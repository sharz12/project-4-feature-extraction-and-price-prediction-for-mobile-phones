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80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2669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731520"/>
            <a:ext cx="2560320" cy="2560320"/>
          </a:xfrm>
          <a:prstGeom prst="ellipse">
            <a:avLst/>
          </a:prstGeom>
          <a:solidFill>
            <a:srgbClr val="1B4F72">
              <a:alpha val="40000"/>
            </a:srgbClr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-274320"/>
            <a:ext cx="1828800" cy="1828800"/>
          </a:xfrm>
          <a:prstGeom prst="ellipse">
            <a:avLst/>
          </a:prstGeom>
          <a:solidFill>
            <a:srgbClr val="2E86C1">
              <a:alpha val="30000"/>
            </a:srgbClr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4480560"/>
            <a:ext cx="8979408" cy="662940"/>
          </a:xfrm>
          <a:prstGeom prst="rect">
            <a:avLst/>
          </a:prstGeom>
          <a:solidFill>
            <a:srgbClr val="1B4F72">
              <a:alpha val="6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 &amp;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Prediction for Mobile Phones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Project — End-to-End Smartphone Price Analysis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154680"/>
            <a:ext cx="1965960" cy="347472"/>
          </a:xfrm>
          <a:prstGeom prst="roundRect">
            <a:avLst>
              <a:gd name="adj" fmla="val 26316"/>
            </a:avLst>
          </a:prstGeom>
          <a:solidFill>
            <a:srgbClr val="2E86C1">
              <a:alpha val="70000"/>
            </a:srgbClr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15468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60320" y="3154680"/>
            <a:ext cx="1965960" cy="347472"/>
          </a:xfrm>
          <a:prstGeom prst="roundRect">
            <a:avLst>
              <a:gd name="adj" fmla="val 26316"/>
            </a:avLst>
          </a:prstGeom>
          <a:solidFill>
            <a:srgbClr val="2E86C1">
              <a:alpha val="70000"/>
            </a:srgbClr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315468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3154680"/>
            <a:ext cx="1965960" cy="347472"/>
          </a:xfrm>
          <a:prstGeom prst="roundRect">
            <a:avLst>
              <a:gd name="adj" fmla="val 26316"/>
            </a:avLst>
          </a:prstGeom>
          <a:solidFill>
            <a:srgbClr val="2E86C1">
              <a:alpha val="70000"/>
            </a:srgbClr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315468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Prediction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766560" y="3154680"/>
            <a:ext cx="1965960" cy="347472"/>
          </a:xfrm>
          <a:prstGeom prst="roundRect">
            <a:avLst>
              <a:gd name="adj" fmla="val 26316"/>
            </a:avLst>
          </a:prstGeom>
          <a:solidFill>
            <a:srgbClr val="2E86C1">
              <a:alpha val="70000"/>
            </a:srgbClr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315468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4343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 IT Solution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6177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: Shahrukh Shaikh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06908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4069080" cy="41148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960120"/>
            <a:ext cx="4069080" cy="41148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Project Objective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201168" cy="20116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1472184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mobile phone specification data to uncover pricing patterns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39112"/>
            <a:ext cx="201168" cy="20116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200253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meaningful features from raw hardware attributes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569464"/>
            <a:ext cx="201168" cy="20116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253288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compare ML models to predict smartphone prices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099816"/>
            <a:ext cx="201168" cy="20116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30632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specifications most influence device pricing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630168"/>
            <a:ext cx="201168" cy="201168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359359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actionable insights for pricing strategy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960120"/>
            <a:ext cx="406908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960120"/>
            <a:ext cx="4069080" cy="41148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960120"/>
            <a:ext cx="4069080" cy="41148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Project Workflow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92040" y="1508760"/>
            <a:ext cx="274320" cy="27432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1508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230368" y="148132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 &amp; Exploration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92040" y="2011680"/>
            <a:ext cx="274320" cy="27432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230368" y="198424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92040" y="2514600"/>
            <a:ext cx="274320" cy="27432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2514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230368" y="248716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92040" y="3017520"/>
            <a:ext cx="274320" cy="27432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30" name="Text 28"/>
          <p:cNvSpPr/>
          <p:nvPr/>
        </p:nvSpPr>
        <p:spPr>
          <a:xfrm>
            <a:off x="4892040" y="3017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230368" y="299008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Visualization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92040" y="3520440"/>
            <a:ext cx="274320" cy="27432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33" name="Text 31"/>
          <p:cNvSpPr/>
          <p:nvPr/>
        </p:nvSpPr>
        <p:spPr>
          <a:xfrm>
            <a:off x="4892040" y="3520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230368" y="349300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&amp; Comparison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92040" y="4023360"/>
            <a:ext cx="274320" cy="27432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36" name="Text 34"/>
          <p:cNvSpPr/>
          <p:nvPr/>
        </p:nvSpPr>
        <p:spPr>
          <a:xfrm>
            <a:off x="4892040" y="4023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230368" y="399592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SHAP Analysis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AED6F1">
              <a:alpha val="8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541 Records  |  12 Columns  |  Target Variable: Price (INR)  |  Models: Gradient Boosting · Random Forest · XGBoost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Basic Exploration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196596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1965960" cy="256032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96012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Records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1216152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541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2468880" y="960120"/>
            <a:ext cx="196596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68880" y="960120"/>
            <a:ext cx="1965960" cy="256032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0" name="Text 8"/>
          <p:cNvSpPr/>
          <p:nvPr/>
        </p:nvSpPr>
        <p:spPr>
          <a:xfrm>
            <a:off x="2468880" y="96012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Features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68880" y="1216152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4617720" y="960120"/>
            <a:ext cx="196596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960120"/>
            <a:ext cx="1965960" cy="256032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4" name="Text 12"/>
          <p:cNvSpPr/>
          <p:nvPr/>
        </p:nvSpPr>
        <p:spPr>
          <a:xfrm>
            <a:off x="4617720" y="96012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Duplicates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17720" y="1216152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6766560" y="960120"/>
            <a:ext cx="196596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66560" y="960120"/>
            <a:ext cx="1965960" cy="256032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0" y="96012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Missing Values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766560" y="1216152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200" dirty="0"/>
          </a:p>
        </p:txBody>
      </p:sp>
      <p:sp>
        <p:nvSpPr>
          <p:cNvPr id="20" name="Shape 18"/>
          <p:cNvSpPr/>
          <p:nvPr/>
        </p:nvSpPr>
        <p:spPr>
          <a:xfrm>
            <a:off x="320040" y="2286000"/>
            <a:ext cx="8503920" cy="347472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2286000"/>
            <a:ext cx="8503920" cy="34747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in the Dataset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0040" y="2633472"/>
            <a:ext cx="6858000" cy="274320"/>
          </a:xfrm>
          <a:prstGeom prst="rect">
            <a:avLst/>
          </a:prstGeom>
          <a:solidFill>
            <a:srgbClr val="AED6F1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" y="26334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331720" y="26334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532120" y="26334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2907792"/>
            <a:ext cx="6858000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" y="29077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331720" y="29077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model name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532120" y="29077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040" y="3108960"/>
            <a:ext cx="6858000" cy="201168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31" name="Text 29"/>
          <p:cNvSpPr/>
          <p:nvPr/>
        </p:nvSpPr>
        <p:spPr>
          <a:xfrm>
            <a:off x="320040" y="31089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331720" y="31089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in GB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532120" y="31089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int64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0040" y="3310128"/>
            <a:ext cx="6858000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320040" y="33101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331720" y="33101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in GB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532120" y="33101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int64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0040" y="3511296"/>
            <a:ext cx="6858000" cy="201168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39" name="Text 37"/>
          <p:cNvSpPr/>
          <p:nvPr/>
        </p:nvSpPr>
        <p:spPr>
          <a:xfrm>
            <a:off x="320040" y="35112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331720" y="3511296"/>
            <a:ext cx="3200400" cy="20116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in mAh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532120" y="35112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int64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20040" y="3712464"/>
            <a:ext cx="6858000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320040" y="3712464"/>
            <a:ext cx="2011680" cy="20116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 Camera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2331720" y="3712464"/>
            <a:ext cx="3200400" cy="20116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 camera MP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532120" y="3712464"/>
            <a:ext cx="1371600" cy="20116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int64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20040" y="3913632"/>
            <a:ext cx="6858000" cy="201168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47" name="Text 45"/>
          <p:cNvSpPr/>
          <p:nvPr/>
        </p:nvSpPr>
        <p:spPr>
          <a:xfrm>
            <a:off x="320040" y="39136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Camera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2331720" y="39136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Selfie camera MP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532120" y="3913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int64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20040" y="4114800"/>
            <a:ext cx="6858000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320040" y="41148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2331720" y="41148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 name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532120" y="41148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20040" y="4315968"/>
            <a:ext cx="6858000" cy="201168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55" name="Text 53"/>
          <p:cNvSpPr/>
          <p:nvPr/>
        </p:nvSpPr>
        <p:spPr>
          <a:xfrm>
            <a:off x="320040" y="43159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2331720" y="4315968"/>
            <a:ext cx="3200400" cy="20116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color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5532120" y="43159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320040" y="4517136"/>
            <a:ext cx="6858000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Text 57"/>
          <p:cNvSpPr/>
          <p:nvPr/>
        </p:nvSpPr>
        <p:spPr>
          <a:xfrm>
            <a:off x="320040" y="4517136"/>
            <a:ext cx="2011680" cy="20116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Lens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2331720" y="4517136"/>
            <a:ext cx="3200400" cy="20116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camera flag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5532120" y="45171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int64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320040" y="4718304"/>
            <a:ext cx="6858000" cy="201168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63" name="Text 61"/>
          <p:cNvSpPr/>
          <p:nvPr/>
        </p:nvSpPr>
        <p:spPr>
          <a:xfrm>
            <a:off x="320040" y="4718304"/>
            <a:ext cx="2011680" cy="20116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Height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2331720" y="4718304"/>
            <a:ext cx="3200400" cy="20116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height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5532120" y="4718304"/>
            <a:ext cx="1371600" cy="20116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float64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320040" y="4919472"/>
            <a:ext cx="6858000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7" name="Text 65"/>
          <p:cNvSpPr/>
          <p:nvPr/>
        </p:nvSpPr>
        <p:spPr>
          <a:xfrm>
            <a:off x="320040" y="49194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★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2331720" y="49194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 (INR)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5532120" y="49194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int64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697480" cy="3886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2697480" cy="50292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9601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Camera Column Parsing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9768" y="1600200"/>
            <a:ext cx="164592" cy="164592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36192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 Camera &amp; Front Camera contained text values like '50MP'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9768" y="2221992"/>
            <a:ext cx="164592" cy="164592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157984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'MP' suffix using string replacement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9768" y="2843784"/>
            <a:ext cx="164592" cy="164592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779776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to numeric (int64) format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9768" y="3465576"/>
            <a:ext cx="164592" cy="164592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401568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mathematical operations and model training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960120"/>
            <a:ext cx="2697480" cy="3886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960120"/>
            <a:ext cx="2697480" cy="5029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0" y="9601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🗑️  Removing Unnamed Column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310128" y="1600200"/>
            <a:ext cx="164592" cy="164592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9" name="Text 17"/>
          <p:cNvSpPr/>
          <p:nvPr/>
        </p:nvSpPr>
        <p:spPr>
          <a:xfrm>
            <a:off x="3520440" y="1536192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export auto-generated an 'Unnamed: 0' index column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10128" y="2221992"/>
            <a:ext cx="164592" cy="164592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21" name="Text 19"/>
          <p:cNvSpPr/>
          <p:nvPr/>
        </p:nvSpPr>
        <p:spPr>
          <a:xfrm>
            <a:off x="3520440" y="2157984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column does not contribute to price prediction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10128" y="2843784"/>
            <a:ext cx="164592" cy="164592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23" name="Text 21"/>
          <p:cNvSpPr/>
          <p:nvPr/>
        </p:nvSpPr>
        <p:spPr>
          <a:xfrm>
            <a:off x="3520440" y="2779776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using df.drop() to clean the dataset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10128" y="3465576"/>
            <a:ext cx="164592" cy="164592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25" name="Text 23"/>
          <p:cNvSpPr/>
          <p:nvPr/>
        </p:nvSpPr>
        <p:spPr>
          <a:xfrm>
            <a:off x="3520440" y="3401568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model bias from irrelevant features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80760" y="960120"/>
            <a:ext cx="2697480" cy="3886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80760" y="960120"/>
            <a:ext cx="2697480" cy="50292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28" name="Text 26"/>
          <p:cNvSpPr/>
          <p:nvPr/>
        </p:nvSpPr>
        <p:spPr>
          <a:xfrm>
            <a:off x="6080760" y="9601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Column Renaming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190488" y="1600200"/>
            <a:ext cx="164592" cy="164592"/>
          </a:xfrm>
          <a:prstGeom prst="ellipse">
            <a:avLst/>
          </a:prstGeom>
          <a:solidFill>
            <a:srgbClr val="1ABC9C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0" y="1536192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Prize → Price (corrected spelling)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90488" y="2221992"/>
            <a:ext cx="164592" cy="164592"/>
          </a:xfrm>
          <a:prstGeom prst="ellipse">
            <a:avLst/>
          </a:prstGeom>
          <a:solidFill>
            <a:srgbClr val="1ABC9C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0" y="2157984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Battery_ → Battery (removed trailing underscore)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190488" y="2843784"/>
            <a:ext cx="164592" cy="164592"/>
          </a:xfrm>
          <a:prstGeom prst="ellipse">
            <a:avLst/>
          </a:prstGeom>
          <a:solidFill>
            <a:srgbClr val="1ABC9C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0" y="2779776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Processor_ → Processor (removed trailing underscore)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90488" y="3465576"/>
            <a:ext cx="164592" cy="164592"/>
          </a:xfrm>
          <a:prstGeom prst="ellipse">
            <a:avLst/>
          </a:prstGeom>
          <a:solidFill>
            <a:srgbClr val="1ABC9C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0" y="3401568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readability and prevents coding confusion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0040" y="4709160"/>
            <a:ext cx="8503920" cy="274320"/>
          </a:xfrm>
          <a:prstGeom prst="rect">
            <a:avLst/>
          </a:prstGeom>
          <a:solidFill>
            <a:srgbClr val="AED6F1">
              <a:alpha val="8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320040" y="47091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Result: Clean dataset with 541 records, 11 meaningful features, properly typed and ready for feature engineering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224528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73152" cy="91440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6" name="Shape 4"/>
          <p:cNvSpPr/>
          <p:nvPr/>
        </p:nvSpPr>
        <p:spPr>
          <a:xfrm>
            <a:off x="3611880" y="1033272"/>
            <a:ext cx="841248" cy="219456"/>
          </a:xfrm>
          <a:prstGeom prst="rect">
            <a:avLst/>
          </a:prstGeom>
          <a:solidFill>
            <a:srgbClr val="2E86C1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611880" y="1033272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84632" y="1005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 — Processor Brand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" y="1280160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E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Processor Name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84632" y="1527048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Qualcomm / Mediatek / Unisoc / Exynos / Other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27448" y="960120"/>
            <a:ext cx="4224528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27448" y="960120"/>
            <a:ext cx="73152" cy="9144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3" name="Shape 11"/>
          <p:cNvSpPr/>
          <p:nvPr/>
        </p:nvSpPr>
        <p:spPr>
          <a:xfrm>
            <a:off x="8019288" y="1033272"/>
            <a:ext cx="841248" cy="219456"/>
          </a:xfrm>
          <a:prstGeom prst="rect">
            <a:avLst/>
          </a:prstGeom>
          <a:solidFill>
            <a:srgbClr val="F39C12">
              <a:alpha val="8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8019288" y="1033272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92040" y="1005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 — Brand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1280160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E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Model Name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92040" y="1527048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SAMSUNG / XIAOMI / APPLE / INFINIX …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1984248"/>
            <a:ext cx="4224528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1984248"/>
            <a:ext cx="73152" cy="91440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20" name="Shape 18"/>
          <p:cNvSpPr/>
          <p:nvPr/>
        </p:nvSpPr>
        <p:spPr>
          <a:xfrm>
            <a:off x="3611880" y="2057400"/>
            <a:ext cx="841248" cy="219456"/>
          </a:xfrm>
          <a:prstGeom prst="rect">
            <a:avLst/>
          </a:prstGeom>
          <a:solidFill>
            <a:srgbClr val="1ABC9C">
              <a:alpha val="8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611880" y="2057400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84632" y="20299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 — Colour Group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" y="2304288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E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200+ Colour Values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4632" y="255117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Black / Blue / Green / White … (12 groups)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27448" y="1984248"/>
            <a:ext cx="4224528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27448" y="1984248"/>
            <a:ext cx="73152" cy="91440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27" name="Shape 25"/>
          <p:cNvSpPr/>
          <p:nvPr/>
        </p:nvSpPr>
        <p:spPr>
          <a:xfrm>
            <a:off x="8019288" y="2057400"/>
            <a:ext cx="841248" cy="219456"/>
          </a:xfrm>
          <a:prstGeom prst="rect">
            <a:avLst/>
          </a:prstGeom>
          <a:solidFill>
            <a:srgbClr val="9B59B6">
              <a:alpha val="8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8019288" y="2057400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Binning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892040" y="20299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 — Battery Category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92040" y="2304288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E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Battery (mAh)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92040" y="255117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Low / Medium / High (Binned)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0040" y="3008376"/>
            <a:ext cx="4224528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" y="3008376"/>
            <a:ext cx="73152" cy="9144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4" name="Shape 32"/>
          <p:cNvSpPr/>
          <p:nvPr/>
        </p:nvSpPr>
        <p:spPr>
          <a:xfrm>
            <a:off x="3611880" y="3081528"/>
            <a:ext cx="841248" cy="219456"/>
          </a:xfrm>
          <a:prstGeom prst="rect">
            <a:avLst/>
          </a:prstGeom>
          <a:solidFill>
            <a:srgbClr val="E74C3C">
              <a:alpha val="8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3611880" y="3081528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84632" y="305409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 — Total Camera MP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4632" y="332841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E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Rear + Front Camera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84632" y="3575304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Combined photography capability metric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27448" y="3008376"/>
            <a:ext cx="4224528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27448" y="3008376"/>
            <a:ext cx="73152" cy="91440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41" name="Shape 39"/>
          <p:cNvSpPr/>
          <p:nvPr/>
        </p:nvSpPr>
        <p:spPr>
          <a:xfrm>
            <a:off x="8019288" y="3081528"/>
            <a:ext cx="841248" cy="219456"/>
          </a:xfrm>
          <a:prstGeom prst="rect">
            <a:avLst/>
          </a:prstGeom>
          <a:solidFill>
            <a:srgbClr val="1ABC9C">
              <a:alpha val="8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8019288" y="3081528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892040" y="305409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 — High RAM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892040" y="332841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E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RAM (GB)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892040" y="3575304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 if RAM ≥ 8GB (Premium), else 0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20040" y="4032504"/>
            <a:ext cx="4224528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20040" y="4032504"/>
            <a:ext cx="73152" cy="91440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48" name="Shape 46"/>
          <p:cNvSpPr/>
          <p:nvPr/>
        </p:nvSpPr>
        <p:spPr>
          <a:xfrm>
            <a:off x="3611880" y="4105656"/>
            <a:ext cx="841248" cy="219456"/>
          </a:xfrm>
          <a:prstGeom prst="rect">
            <a:avLst/>
          </a:prstGeom>
          <a:solidFill>
            <a:srgbClr val="1B4F72">
              <a:alpha val="8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3611880" y="4105656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Binning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84632" y="407822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5.7 — Storage Tier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84632" y="4352544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E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Memory (GB)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84632" y="4599432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Low / Mid / High / Ultra (Discretized)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727448" y="4032504"/>
            <a:ext cx="4224528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727448" y="4032504"/>
            <a:ext cx="73152" cy="91440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55" name="Shape 53"/>
          <p:cNvSpPr/>
          <p:nvPr/>
        </p:nvSpPr>
        <p:spPr>
          <a:xfrm>
            <a:off x="8019288" y="4105656"/>
            <a:ext cx="841248" cy="219456"/>
          </a:xfrm>
          <a:prstGeom prst="rect">
            <a:avLst/>
          </a:prstGeom>
          <a:solidFill>
            <a:srgbClr val="2E86C1">
              <a:alpha val="80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8019288" y="4105656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892040" y="407822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 — Processor Class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4892040" y="4352544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E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Processor Name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4892040" y="4599432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Flagship / Mid-Range performance tier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Univariate Analysis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06908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4069080" cy="384048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960120"/>
            <a:ext cx="406908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Price Distribution (Target Variable)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3246120"/>
            <a:ext cx="292608" cy="182880"/>
          </a:xfrm>
          <a:prstGeom prst="rect">
            <a:avLst/>
          </a:prstGeom>
          <a:solidFill>
            <a:srgbClr val="AED6F1"/>
          </a:solidFill>
          <a:ln/>
        </p:spPr>
      </p:sp>
      <p:sp>
        <p:nvSpPr>
          <p:cNvPr id="8" name="Shape 6"/>
          <p:cNvSpPr/>
          <p:nvPr/>
        </p:nvSpPr>
        <p:spPr>
          <a:xfrm>
            <a:off x="850392" y="2880360"/>
            <a:ext cx="292608" cy="548640"/>
          </a:xfrm>
          <a:prstGeom prst="rect">
            <a:avLst/>
          </a:prstGeom>
          <a:solidFill>
            <a:srgbClr val="85C1E9"/>
          </a:solidFill>
          <a:ln/>
        </p:spPr>
      </p:sp>
      <p:sp>
        <p:nvSpPr>
          <p:cNvPr id="9" name="Shape 7"/>
          <p:cNvSpPr/>
          <p:nvPr/>
        </p:nvSpPr>
        <p:spPr>
          <a:xfrm>
            <a:off x="1197864" y="2057400"/>
            <a:ext cx="292608" cy="1371600"/>
          </a:xfrm>
          <a:prstGeom prst="rect">
            <a:avLst/>
          </a:prstGeom>
          <a:solidFill>
            <a:srgbClr val="5DADE2"/>
          </a:solidFill>
          <a:ln/>
        </p:spPr>
      </p:sp>
      <p:sp>
        <p:nvSpPr>
          <p:cNvPr id="10" name="Shape 8"/>
          <p:cNvSpPr/>
          <p:nvPr/>
        </p:nvSpPr>
        <p:spPr>
          <a:xfrm>
            <a:off x="1545336" y="1600200"/>
            <a:ext cx="292608" cy="182880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1" name="Shape 9"/>
          <p:cNvSpPr/>
          <p:nvPr/>
        </p:nvSpPr>
        <p:spPr>
          <a:xfrm>
            <a:off x="1892808" y="2148840"/>
            <a:ext cx="292608" cy="128016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2" name="Shape 10"/>
          <p:cNvSpPr/>
          <p:nvPr/>
        </p:nvSpPr>
        <p:spPr>
          <a:xfrm>
            <a:off x="2240280" y="2606040"/>
            <a:ext cx="292608" cy="822960"/>
          </a:xfrm>
          <a:prstGeom prst="rect">
            <a:avLst/>
          </a:prstGeom>
          <a:solidFill>
            <a:srgbClr val="2874A6"/>
          </a:solidFill>
          <a:ln/>
        </p:spPr>
      </p:sp>
      <p:sp>
        <p:nvSpPr>
          <p:cNvPr id="13" name="Shape 11"/>
          <p:cNvSpPr/>
          <p:nvPr/>
        </p:nvSpPr>
        <p:spPr>
          <a:xfrm>
            <a:off x="2587752" y="2971800"/>
            <a:ext cx="292608" cy="457200"/>
          </a:xfrm>
          <a:prstGeom prst="rect">
            <a:avLst/>
          </a:prstGeom>
          <a:solidFill>
            <a:srgbClr val="21618C"/>
          </a:solidFill>
          <a:ln/>
        </p:spPr>
      </p:sp>
      <p:sp>
        <p:nvSpPr>
          <p:cNvPr id="14" name="Shape 12"/>
          <p:cNvSpPr/>
          <p:nvPr/>
        </p:nvSpPr>
        <p:spPr>
          <a:xfrm>
            <a:off x="2935224" y="3154680"/>
            <a:ext cx="292608" cy="27432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5" name="Shape 13"/>
          <p:cNvSpPr/>
          <p:nvPr/>
        </p:nvSpPr>
        <p:spPr>
          <a:xfrm>
            <a:off x="3282696" y="3246120"/>
            <a:ext cx="292608" cy="182880"/>
          </a:xfrm>
          <a:prstGeom prst="rect">
            <a:avLst/>
          </a:prstGeom>
          <a:solidFill>
            <a:srgbClr val="154360"/>
          </a:solidFill>
          <a:ln/>
        </p:spPr>
      </p:sp>
      <p:sp>
        <p:nvSpPr>
          <p:cNvPr id="16" name="Shape 14"/>
          <p:cNvSpPr/>
          <p:nvPr/>
        </p:nvSpPr>
        <p:spPr>
          <a:xfrm>
            <a:off x="3630168" y="3291840"/>
            <a:ext cx="292608" cy="137160"/>
          </a:xfrm>
          <a:prstGeom prst="rect">
            <a:avLst/>
          </a:prstGeom>
          <a:solidFill>
            <a:srgbClr val="0D3349"/>
          </a:solidFill>
          <a:ln/>
        </p:spPr>
      </p:sp>
      <p:sp>
        <p:nvSpPr>
          <p:cNvPr id="17" name="Shape 15"/>
          <p:cNvSpPr/>
          <p:nvPr/>
        </p:nvSpPr>
        <p:spPr>
          <a:xfrm>
            <a:off x="502920" y="3429000"/>
            <a:ext cx="3474720" cy="0"/>
          </a:xfrm>
          <a:prstGeom prst="line">
            <a:avLst/>
          </a:prstGeom>
          <a:noFill/>
          <a:ln w="12700">
            <a:solidFill>
              <a:srgbClr val="6E7D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4447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Statistics: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171907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Price: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965960" y="171907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₹15,410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" y="198424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Price: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965960" y="198424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₹11,900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224942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Price: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965960" y="224942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₹9,999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251460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Skewness: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965960" y="251460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2.43 (Right Skewed)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00" y="277977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Range: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965960" y="277977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₹800 – ₹1,29,900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" y="304495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(IQR):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965960" y="304495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premium devices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11480" y="35661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Type: RIGHT SKEWED — Budget &amp; mid-range phones dominate the dataset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4880" y="960120"/>
            <a:ext cx="406908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960120"/>
            <a:ext cx="4069080" cy="384048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34" name="Text 32"/>
          <p:cNvSpPr/>
          <p:nvPr/>
        </p:nvSpPr>
        <p:spPr>
          <a:xfrm>
            <a:off x="4754880" y="960120"/>
            <a:ext cx="406908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Other Feature Distributions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92040" y="1444752"/>
            <a:ext cx="713232" cy="237744"/>
          </a:xfrm>
          <a:prstGeom prst="rect">
            <a:avLst/>
          </a:prstGeom>
          <a:solidFill>
            <a:srgbClr val="1ABC9C">
              <a:alpha val="8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4892040" y="144475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669280" y="1444752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4GB most common (mid-range dominates); 8GB+ = 157 devices (premium)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92040" y="2039112"/>
            <a:ext cx="713232" cy="237744"/>
          </a:xfrm>
          <a:prstGeom prst="rect">
            <a:avLst/>
          </a:prstGeom>
          <a:solidFill>
            <a:srgbClr val="1ABC9C">
              <a:alpha val="8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4892040" y="203911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669280" y="2039112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64–128GB is mainstream tier; 256GB+ = premium segment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892040" y="2633472"/>
            <a:ext cx="713232" cy="237744"/>
          </a:xfrm>
          <a:prstGeom prst="rect">
            <a:avLst/>
          </a:prstGeom>
          <a:solidFill>
            <a:srgbClr val="1ABC9C">
              <a:alpha val="8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4892040" y="263347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669280" y="2633472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5000 mAh standard (most common); compact &lt;3500 rare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892040" y="3227832"/>
            <a:ext cx="713232" cy="237744"/>
          </a:xfrm>
          <a:prstGeom prst="rect">
            <a:avLst/>
          </a:prstGeom>
          <a:solidFill>
            <a:srgbClr val="1ABC9C">
              <a:alpha val="8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4892040" y="322783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 Brand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669280" y="3227832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Mediatek leads market share, followed by Qualcomm Snapdragon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892040" y="3822192"/>
            <a:ext cx="713232" cy="237744"/>
          </a:xfrm>
          <a:prstGeom prst="rect">
            <a:avLst/>
          </a:prstGeom>
          <a:solidFill>
            <a:srgbClr val="1ABC9C">
              <a:alpha val="8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4892040" y="382219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Colors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669280" y="3822192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Black, Blue, Grey dominate — manufacturers prefer neutral tones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892040" y="4416552"/>
            <a:ext cx="713232" cy="237744"/>
          </a:xfrm>
          <a:prstGeom prst="rect">
            <a:avLst/>
          </a:prstGeom>
          <a:solidFill>
            <a:srgbClr val="1ABC9C">
              <a:alpha val="8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4892040" y="441655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 Camera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669280" y="4416552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50MP most frequent among smartphones in dataset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Bivariate &amp; Multivariate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960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Impact on Price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8503920" cy="27432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325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600200" y="13258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Level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697480" y="13258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46120" y="13258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446520" y="13258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Strength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1600200"/>
            <a:ext cx="850392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60020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600200" y="1691640"/>
            <a:ext cx="960120" cy="219456"/>
          </a:xfrm>
          <a:prstGeom prst="rect">
            <a:avLst/>
          </a:prstGeom>
          <a:solidFill>
            <a:srgbClr val="1ABC9C">
              <a:alpha val="8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600200" y="169164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Strong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0" y="1600200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246120" y="1600200"/>
            <a:ext cx="3154680" cy="40233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RAM → Higher Price; flagship signal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92240" y="1737360"/>
            <a:ext cx="2011680" cy="128016"/>
          </a:xfrm>
          <a:prstGeom prst="rect">
            <a:avLst/>
          </a:prstGeom>
          <a:solidFill>
            <a:srgbClr val="AED6F1"/>
          </a:solidFill>
          <a:ln/>
        </p:spPr>
      </p:sp>
      <p:sp>
        <p:nvSpPr>
          <p:cNvPr id="18" name="Shape 16"/>
          <p:cNvSpPr/>
          <p:nvPr/>
        </p:nvSpPr>
        <p:spPr>
          <a:xfrm>
            <a:off x="6492240" y="1737360"/>
            <a:ext cx="1850746" cy="128016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9" name="Shape 17"/>
          <p:cNvSpPr/>
          <p:nvPr/>
        </p:nvSpPr>
        <p:spPr>
          <a:xfrm>
            <a:off x="320040" y="2020824"/>
            <a:ext cx="8503920" cy="402336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2020824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600200" y="2112264"/>
            <a:ext cx="960120" cy="219456"/>
          </a:xfrm>
          <a:prstGeom prst="rect">
            <a:avLst/>
          </a:prstGeom>
          <a:solidFill>
            <a:srgbClr val="2E86C1">
              <a:alpha val="8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600200" y="2112264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743200" y="2020824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246120" y="2020824"/>
            <a:ext cx="3154680" cy="40233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storage → Higher Price; premium tier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492240" y="2157984"/>
            <a:ext cx="2011680" cy="128016"/>
          </a:xfrm>
          <a:prstGeom prst="rect">
            <a:avLst/>
          </a:prstGeom>
          <a:solidFill>
            <a:srgbClr val="AED6F1"/>
          </a:solidFill>
          <a:ln/>
        </p:spPr>
      </p:sp>
      <p:sp>
        <p:nvSpPr>
          <p:cNvPr id="26" name="Shape 24"/>
          <p:cNvSpPr/>
          <p:nvPr/>
        </p:nvSpPr>
        <p:spPr>
          <a:xfrm>
            <a:off x="6492240" y="2157984"/>
            <a:ext cx="1569110" cy="128016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27" name="Shape 25"/>
          <p:cNvSpPr/>
          <p:nvPr/>
        </p:nvSpPr>
        <p:spPr>
          <a:xfrm>
            <a:off x="320040" y="2441448"/>
            <a:ext cx="850392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411480" y="2441448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 Class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600200" y="2532888"/>
            <a:ext cx="960120" cy="219456"/>
          </a:xfrm>
          <a:prstGeom prst="rect">
            <a:avLst/>
          </a:prstGeom>
          <a:solidFill>
            <a:srgbClr val="2E86C1">
              <a:alpha val="85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1600200" y="2532888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743200" y="2441448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246120" y="2441448"/>
            <a:ext cx="3154680" cy="40233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 chip → significantly higher price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492240" y="2578608"/>
            <a:ext cx="2011680" cy="128016"/>
          </a:xfrm>
          <a:prstGeom prst="rect">
            <a:avLst/>
          </a:prstGeom>
          <a:solidFill>
            <a:srgbClr val="AED6F1"/>
          </a:solidFill>
          <a:ln/>
        </p:spPr>
      </p:sp>
      <p:sp>
        <p:nvSpPr>
          <p:cNvPr id="34" name="Shape 32"/>
          <p:cNvSpPr/>
          <p:nvPr/>
        </p:nvSpPr>
        <p:spPr>
          <a:xfrm>
            <a:off x="6492240" y="2578608"/>
            <a:ext cx="1508760" cy="128016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35" name="Shape 33"/>
          <p:cNvSpPr/>
          <p:nvPr/>
        </p:nvSpPr>
        <p:spPr>
          <a:xfrm>
            <a:off x="320040" y="2862072"/>
            <a:ext cx="8503920" cy="402336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36" name="Text 34"/>
          <p:cNvSpPr/>
          <p:nvPr/>
        </p:nvSpPr>
        <p:spPr>
          <a:xfrm>
            <a:off x="411480" y="286207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600200" y="2953512"/>
            <a:ext cx="960120" cy="219456"/>
          </a:xfrm>
          <a:prstGeom prst="rect">
            <a:avLst/>
          </a:prstGeom>
          <a:solidFill>
            <a:srgbClr val="2E86C1">
              <a:alpha val="85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1600200" y="2953512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743200" y="2862072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3246120" y="2862072"/>
            <a:ext cx="3154680" cy="40233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Apple/Samsung premium vs Infinix/Tecno budget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492240" y="2999232"/>
            <a:ext cx="2011680" cy="128016"/>
          </a:xfrm>
          <a:prstGeom prst="rect">
            <a:avLst/>
          </a:prstGeom>
          <a:solidFill>
            <a:srgbClr val="AED6F1"/>
          </a:solidFill>
          <a:ln/>
        </p:spPr>
      </p:sp>
      <p:sp>
        <p:nvSpPr>
          <p:cNvPr id="42" name="Shape 40"/>
          <p:cNvSpPr/>
          <p:nvPr/>
        </p:nvSpPr>
        <p:spPr>
          <a:xfrm>
            <a:off x="6492240" y="2999232"/>
            <a:ext cx="1448410" cy="128016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3" name="Shape 41"/>
          <p:cNvSpPr/>
          <p:nvPr/>
        </p:nvSpPr>
        <p:spPr>
          <a:xfrm>
            <a:off x="320040" y="3282696"/>
            <a:ext cx="850392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411480" y="3282696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MP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1600200" y="3374136"/>
            <a:ext cx="960120" cy="219456"/>
          </a:xfrm>
          <a:prstGeom prst="rect">
            <a:avLst/>
          </a:prstGeom>
          <a:solidFill>
            <a:srgbClr val="F39C12">
              <a:alpha val="85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1600200" y="3374136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743200" y="3282696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3246120" y="3282696"/>
            <a:ext cx="3154680" cy="40233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MP camera adds premium positioning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492240" y="3419856"/>
            <a:ext cx="2011680" cy="128016"/>
          </a:xfrm>
          <a:prstGeom prst="rect">
            <a:avLst/>
          </a:prstGeom>
          <a:solidFill>
            <a:srgbClr val="AED6F1"/>
          </a:solidFill>
          <a:ln/>
        </p:spPr>
      </p:sp>
      <p:sp>
        <p:nvSpPr>
          <p:cNvPr id="50" name="Shape 48"/>
          <p:cNvSpPr/>
          <p:nvPr/>
        </p:nvSpPr>
        <p:spPr>
          <a:xfrm>
            <a:off x="6492240" y="3419856"/>
            <a:ext cx="1106424" cy="12801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51" name="Shape 49"/>
          <p:cNvSpPr/>
          <p:nvPr/>
        </p:nvSpPr>
        <p:spPr>
          <a:xfrm>
            <a:off x="320040" y="3703320"/>
            <a:ext cx="8503920" cy="402336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52" name="Text 50"/>
          <p:cNvSpPr/>
          <p:nvPr/>
        </p:nvSpPr>
        <p:spPr>
          <a:xfrm>
            <a:off x="411480" y="370332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1600200" y="3794760"/>
            <a:ext cx="960120" cy="219456"/>
          </a:xfrm>
          <a:prstGeom prst="rect">
            <a:avLst/>
          </a:prstGeom>
          <a:solidFill>
            <a:srgbClr val="E74C3C">
              <a:alpha val="85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1600200" y="379476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2743200" y="3703320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3246120" y="3703320"/>
            <a:ext cx="3154680" cy="40233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5000mAh standard — less differentiation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492240" y="3840480"/>
            <a:ext cx="2011680" cy="128016"/>
          </a:xfrm>
          <a:prstGeom prst="rect">
            <a:avLst/>
          </a:prstGeom>
          <a:solidFill>
            <a:srgbClr val="AED6F1"/>
          </a:solidFill>
          <a:ln/>
        </p:spPr>
      </p:sp>
      <p:sp>
        <p:nvSpPr>
          <p:cNvPr id="58" name="Shape 56"/>
          <p:cNvSpPr/>
          <p:nvPr/>
        </p:nvSpPr>
        <p:spPr>
          <a:xfrm>
            <a:off x="6492240" y="3840480"/>
            <a:ext cx="563270" cy="12801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59" name="Shape 57"/>
          <p:cNvSpPr/>
          <p:nvPr/>
        </p:nvSpPr>
        <p:spPr>
          <a:xfrm>
            <a:off x="320040" y="4123944"/>
            <a:ext cx="850392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0" name="Text 58"/>
          <p:cNvSpPr/>
          <p:nvPr/>
        </p:nvSpPr>
        <p:spPr>
          <a:xfrm>
            <a:off x="411480" y="4123944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1600200" y="4215384"/>
            <a:ext cx="960120" cy="219456"/>
          </a:xfrm>
          <a:prstGeom prst="rect">
            <a:avLst/>
          </a:prstGeom>
          <a:solidFill>
            <a:srgbClr val="E74C3C">
              <a:alpha val="85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1600200" y="4215384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2743200" y="4123944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3246120" y="4123944"/>
            <a:ext cx="3154680" cy="40233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Primarily design choice, not price driver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6492240" y="4261104"/>
            <a:ext cx="2011680" cy="128016"/>
          </a:xfrm>
          <a:prstGeom prst="rect">
            <a:avLst/>
          </a:prstGeom>
          <a:solidFill>
            <a:srgbClr val="AED6F1"/>
          </a:solidFill>
          <a:ln/>
        </p:spPr>
      </p:sp>
      <p:sp>
        <p:nvSpPr>
          <p:cNvPr id="66" name="Shape 64"/>
          <p:cNvSpPr/>
          <p:nvPr/>
        </p:nvSpPr>
        <p:spPr>
          <a:xfrm>
            <a:off x="6492240" y="4261104"/>
            <a:ext cx="241402" cy="12801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67" name="Shape 65"/>
          <p:cNvSpPr/>
          <p:nvPr/>
        </p:nvSpPr>
        <p:spPr>
          <a:xfrm>
            <a:off x="320040" y="4544568"/>
            <a:ext cx="8503920" cy="384048"/>
          </a:xfrm>
          <a:prstGeom prst="rect">
            <a:avLst/>
          </a:prstGeom>
          <a:solidFill>
            <a:srgbClr val="AED6F1">
              <a:alpha val="70000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411480" y="454456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Matrix: RAM &amp; Memory show strong positive correlation with Price · VIF analysis confirmed multicollinearity in Rear/Front Camera &amp; Total_Camera_MP features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&amp; Performance Comparison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724912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2724912" cy="50292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960120"/>
            <a:ext cx="2724912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🌲  Gradient Boosting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29768" y="15087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E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Parameters: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29768" y="17190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n_estimators=300, lr=0.05, max_depth=4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29768" y="2194560"/>
            <a:ext cx="2487168" cy="438912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" y="219456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45920" y="2194560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₹1,598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9768" y="2697480"/>
            <a:ext cx="2487168" cy="438912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3" name="Text 11"/>
          <p:cNvSpPr/>
          <p:nvPr/>
        </p:nvSpPr>
        <p:spPr>
          <a:xfrm>
            <a:off x="521208" y="269748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45920" y="2697480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₹4,405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9768" y="3200400"/>
            <a:ext cx="2487168" cy="438912"/>
          </a:xfrm>
          <a:prstGeom prst="rect">
            <a:avLst/>
          </a:prstGeom>
          <a:solidFill>
            <a:srgbClr val="2E86C1">
              <a:alpha val="8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21208" y="320040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45920" y="3200400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0.8592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05840" y="3794760"/>
            <a:ext cx="1325880" cy="292608"/>
          </a:xfrm>
          <a:prstGeom prst="roundRect">
            <a:avLst>
              <a:gd name="adj" fmla="val 18750"/>
            </a:avLst>
          </a:prstGeom>
          <a:solidFill>
            <a:srgbClr val="6E7D8B">
              <a:alpha val="8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379476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27832" y="960120"/>
            <a:ext cx="2724912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27832" y="960120"/>
            <a:ext cx="2724912" cy="5029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2" name="Text 20"/>
          <p:cNvSpPr/>
          <p:nvPr/>
        </p:nvSpPr>
        <p:spPr>
          <a:xfrm>
            <a:off x="3227832" y="960120"/>
            <a:ext cx="2724912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🌳  Random Forest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337560" y="15087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E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Parameters: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37560" y="17190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n_estimators=200, random_state=42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337560" y="2194560"/>
            <a:ext cx="2487168" cy="438912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26" name="Text 24"/>
          <p:cNvSpPr/>
          <p:nvPr/>
        </p:nvSpPr>
        <p:spPr>
          <a:xfrm>
            <a:off x="3429000" y="219456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53712" y="2194560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₹1,821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337560" y="2697480"/>
            <a:ext cx="2487168" cy="438912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29" name="Text 27"/>
          <p:cNvSpPr/>
          <p:nvPr/>
        </p:nvSpPr>
        <p:spPr>
          <a:xfrm>
            <a:off x="3429000" y="269748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53712" y="2697480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₹4,781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337560" y="3200400"/>
            <a:ext cx="2487168" cy="438912"/>
          </a:xfrm>
          <a:prstGeom prst="rect">
            <a:avLst/>
          </a:prstGeom>
          <a:solidFill>
            <a:srgbClr val="F39C12">
              <a:alpha val="8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3429000" y="320040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53712" y="3200400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0.8341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913632" y="3794760"/>
            <a:ext cx="1325880" cy="292608"/>
          </a:xfrm>
          <a:prstGeom prst="roundRect">
            <a:avLst>
              <a:gd name="adj" fmla="val 18750"/>
            </a:avLst>
          </a:prstGeom>
          <a:solidFill>
            <a:srgbClr val="6E7D8B">
              <a:alpha val="8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3913632" y="379476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135624" y="960120"/>
            <a:ext cx="2724912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35624" y="960120"/>
            <a:ext cx="2724912" cy="50292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38" name="Text 36"/>
          <p:cNvSpPr/>
          <p:nvPr/>
        </p:nvSpPr>
        <p:spPr>
          <a:xfrm>
            <a:off x="6135624" y="960120"/>
            <a:ext cx="2724912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XGBoost ⭐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6245352" y="15087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E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Parameters: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245352" y="17190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n_estimators=200, lr=0.1 (tuned: 400, lr=0.05)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245352" y="2194560"/>
            <a:ext cx="2487168" cy="438912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42" name="Text 40"/>
          <p:cNvSpPr/>
          <p:nvPr/>
        </p:nvSpPr>
        <p:spPr>
          <a:xfrm>
            <a:off x="6336792" y="219456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461504" y="2194560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₹1,407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245352" y="2697480"/>
            <a:ext cx="2487168" cy="438912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45" name="Text 43"/>
          <p:cNvSpPr/>
          <p:nvPr/>
        </p:nvSpPr>
        <p:spPr>
          <a:xfrm>
            <a:off x="6336792" y="269748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461504" y="2697480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₹3,973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6245352" y="3200400"/>
            <a:ext cx="2487168" cy="438912"/>
          </a:xfrm>
          <a:prstGeom prst="rect">
            <a:avLst/>
          </a:prstGeom>
          <a:solidFill>
            <a:srgbClr val="1ABC9C">
              <a:alpha val="8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6336792" y="320040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461504" y="3200400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0.8855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6821424" y="3794760"/>
            <a:ext cx="1325880" cy="292608"/>
          </a:xfrm>
          <a:prstGeom prst="roundRect">
            <a:avLst>
              <a:gd name="adj" fmla="val 18750"/>
            </a:avLst>
          </a:prstGeom>
          <a:solidFill>
            <a:srgbClr val="1ABC9C">
              <a:alpha val="8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6821424" y="379476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BEST MODEL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20040" y="4343400"/>
            <a:ext cx="85039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320040" y="4343400"/>
            <a:ext cx="73152" cy="658368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54" name="Text 52"/>
          <p:cNvSpPr/>
          <p:nvPr/>
        </p:nvSpPr>
        <p:spPr>
          <a:xfrm>
            <a:off x="457200" y="434340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10-Fold Cross Validation (XGBoost):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3291840" y="4343400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R² = 0.7814  |  Range: 0.56 – 0.93  |  Confirms strong generalization capability of the tuned model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&amp; SHAP Explainability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069080" cy="3977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4069080" cy="384048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960120"/>
            <a:ext cx="406908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XGBoost Feature Importance (Top 10)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4447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920240" y="1517904"/>
            <a:ext cx="1828800" cy="146304"/>
          </a:xfrm>
          <a:prstGeom prst="rect">
            <a:avLst/>
          </a:prstGeom>
          <a:solidFill>
            <a:srgbClr val="AED6F1"/>
          </a:solidFill>
          <a:ln/>
        </p:spPr>
      </p:sp>
      <p:sp>
        <p:nvSpPr>
          <p:cNvPr id="9" name="Shape 7"/>
          <p:cNvSpPr/>
          <p:nvPr/>
        </p:nvSpPr>
        <p:spPr>
          <a:xfrm>
            <a:off x="1920240" y="1517904"/>
            <a:ext cx="1737360" cy="146304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0" name="Text 8"/>
          <p:cNvSpPr/>
          <p:nvPr/>
        </p:nvSpPr>
        <p:spPr>
          <a:xfrm>
            <a:off x="3794760" y="144475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177393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920240" y="1847088"/>
            <a:ext cx="1828800" cy="146304"/>
          </a:xfrm>
          <a:prstGeom prst="rect">
            <a:avLst/>
          </a:prstGeom>
          <a:solidFill>
            <a:srgbClr val="AED6F1"/>
          </a:solidFill>
          <a:ln/>
        </p:spPr>
      </p:sp>
      <p:sp>
        <p:nvSpPr>
          <p:cNvPr id="13" name="Shape 11"/>
          <p:cNvSpPr/>
          <p:nvPr/>
        </p:nvSpPr>
        <p:spPr>
          <a:xfrm>
            <a:off x="1920240" y="1847088"/>
            <a:ext cx="1554480" cy="146304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4" name="Text 12"/>
          <p:cNvSpPr/>
          <p:nvPr/>
        </p:nvSpPr>
        <p:spPr>
          <a:xfrm>
            <a:off x="3794760" y="1773936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1480" y="2103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Brand_APPLE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920240" y="2176272"/>
            <a:ext cx="1828800" cy="146304"/>
          </a:xfrm>
          <a:prstGeom prst="rect">
            <a:avLst/>
          </a:prstGeom>
          <a:solidFill>
            <a:srgbClr val="AED6F1"/>
          </a:solidFill>
          <a:ln/>
        </p:spPr>
      </p:sp>
      <p:sp>
        <p:nvSpPr>
          <p:cNvPr id="17" name="Shape 15"/>
          <p:cNvSpPr/>
          <p:nvPr/>
        </p:nvSpPr>
        <p:spPr>
          <a:xfrm>
            <a:off x="1920240" y="2176272"/>
            <a:ext cx="1426464" cy="14630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8" name="Text 16"/>
          <p:cNvSpPr/>
          <p:nvPr/>
        </p:nvSpPr>
        <p:spPr>
          <a:xfrm>
            <a:off x="3794760" y="210312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1480" y="2432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Processor_Class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920240" y="2505456"/>
            <a:ext cx="1828800" cy="146304"/>
          </a:xfrm>
          <a:prstGeom prst="rect">
            <a:avLst/>
          </a:prstGeom>
          <a:solidFill>
            <a:srgbClr val="AED6F1"/>
          </a:solidFill>
          <a:ln/>
        </p:spPr>
      </p:sp>
      <p:sp>
        <p:nvSpPr>
          <p:cNvPr id="21" name="Shape 19"/>
          <p:cNvSpPr/>
          <p:nvPr/>
        </p:nvSpPr>
        <p:spPr>
          <a:xfrm>
            <a:off x="1920240" y="2505456"/>
            <a:ext cx="1316736" cy="146304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22" name="Text 20"/>
          <p:cNvSpPr/>
          <p:nvPr/>
        </p:nvSpPr>
        <p:spPr>
          <a:xfrm>
            <a:off x="3794760" y="2432304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11480" y="27614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 Camera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920240" y="2834640"/>
            <a:ext cx="1828800" cy="146304"/>
          </a:xfrm>
          <a:prstGeom prst="rect">
            <a:avLst/>
          </a:prstGeom>
          <a:solidFill>
            <a:srgbClr val="AED6F1"/>
          </a:solidFill>
          <a:ln/>
        </p:spPr>
      </p:sp>
      <p:sp>
        <p:nvSpPr>
          <p:cNvPr id="25" name="Shape 23"/>
          <p:cNvSpPr/>
          <p:nvPr/>
        </p:nvSpPr>
        <p:spPr>
          <a:xfrm>
            <a:off x="1920240" y="2834640"/>
            <a:ext cx="1188720" cy="14630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26" name="Text 24"/>
          <p:cNvSpPr/>
          <p:nvPr/>
        </p:nvSpPr>
        <p:spPr>
          <a:xfrm>
            <a:off x="3794760" y="27614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11480" y="30906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Total_Camera_MP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920240" y="3163824"/>
            <a:ext cx="1828800" cy="146304"/>
          </a:xfrm>
          <a:prstGeom prst="rect">
            <a:avLst/>
          </a:prstGeom>
          <a:solidFill>
            <a:srgbClr val="AED6F1"/>
          </a:solidFill>
          <a:ln/>
        </p:spPr>
      </p:sp>
      <p:sp>
        <p:nvSpPr>
          <p:cNvPr id="29" name="Shape 27"/>
          <p:cNvSpPr/>
          <p:nvPr/>
        </p:nvSpPr>
        <p:spPr>
          <a:xfrm>
            <a:off x="1920240" y="3163824"/>
            <a:ext cx="1060704" cy="14630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30" name="Text 28"/>
          <p:cNvSpPr/>
          <p:nvPr/>
        </p:nvSpPr>
        <p:spPr>
          <a:xfrm>
            <a:off x="3794760" y="309067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11480" y="34198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920240" y="3493008"/>
            <a:ext cx="1828800" cy="146304"/>
          </a:xfrm>
          <a:prstGeom prst="rect">
            <a:avLst/>
          </a:prstGeom>
          <a:solidFill>
            <a:srgbClr val="AED6F1"/>
          </a:solidFill>
          <a:ln/>
        </p:spPr>
      </p:sp>
      <p:sp>
        <p:nvSpPr>
          <p:cNvPr id="33" name="Shape 31"/>
          <p:cNvSpPr/>
          <p:nvPr/>
        </p:nvSpPr>
        <p:spPr>
          <a:xfrm>
            <a:off x="1920240" y="3493008"/>
            <a:ext cx="768096" cy="146304"/>
          </a:xfrm>
          <a:prstGeom prst="rect">
            <a:avLst/>
          </a:prstGeom>
          <a:solidFill>
            <a:srgbClr val="6E7D8B"/>
          </a:solidFill>
          <a:ln/>
        </p:spPr>
      </p:sp>
      <p:sp>
        <p:nvSpPr>
          <p:cNvPr id="34" name="Text 32"/>
          <p:cNvSpPr/>
          <p:nvPr/>
        </p:nvSpPr>
        <p:spPr>
          <a:xfrm>
            <a:off x="3794760" y="3419856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E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11480" y="3749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Height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920240" y="3822192"/>
            <a:ext cx="1828800" cy="146304"/>
          </a:xfrm>
          <a:prstGeom prst="rect">
            <a:avLst/>
          </a:prstGeom>
          <a:solidFill>
            <a:srgbClr val="AED6F1"/>
          </a:solidFill>
          <a:ln/>
        </p:spPr>
      </p:sp>
      <p:sp>
        <p:nvSpPr>
          <p:cNvPr id="37" name="Shape 35"/>
          <p:cNvSpPr/>
          <p:nvPr/>
        </p:nvSpPr>
        <p:spPr>
          <a:xfrm>
            <a:off x="1920240" y="3822192"/>
            <a:ext cx="640080" cy="146304"/>
          </a:xfrm>
          <a:prstGeom prst="rect">
            <a:avLst/>
          </a:prstGeom>
          <a:solidFill>
            <a:srgbClr val="6E7D8B"/>
          </a:solidFill>
          <a:ln/>
        </p:spPr>
      </p:sp>
      <p:sp>
        <p:nvSpPr>
          <p:cNvPr id="38" name="Text 36"/>
          <p:cNvSpPr/>
          <p:nvPr/>
        </p:nvSpPr>
        <p:spPr>
          <a:xfrm>
            <a:off x="3794760" y="374904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E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11480" y="40782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High_RAM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1920240" y="4151376"/>
            <a:ext cx="1828800" cy="146304"/>
          </a:xfrm>
          <a:prstGeom prst="rect">
            <a:avLst/>
          </a:prstGeom>
          <a:solidFill>
            <a:srgbClr val="AED6F1"/>
          </a:solidFill>
          <a:ln/>
        </p:spPr>
      </p:sp>
      <p:sp>
        <p:nvSpPr>
          <p:cNvPr id="41" name="Shape 39"/>
          <p:cNvSpPr/>
          <p:nvPr/>
        </p:nvSpPr>
        <p:spPr>
          <a:xfrm>
            <a:off x="1920240" y="4151376"/>
            <a:ext cx="548640" cy="146304"/>
          </a:xfrm>
          <a:prstGeom prst="rect">
            <a:avLst/>
          </a:prstGeom>
          <a:solidFill>
            <a:srgbClr val="6E7D8B"/>
          </a:solidFill>
          <a:ln/>
        </p:spPr>
      </p:sp>
      <p:sp>
        <p:nvSpPr>
          <p:cNvPr id="42" name="Text 40"/>
          <p:cNvSpPr/>
          <p:nvPr/>
        </p:nvSpPr>
        <p:spPr>
          <a:xfrm>
            <a:off x="3794760" y="4078224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E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11480" y="44074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Processor_Brand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1920240" y="4480560"/>
            <a:ext cx="1828800" cy="146304"/>
          </a:xfrm>
          <a:prstGeom prst="rect">
            <a:avLst/>
          </a:prstGeom>
          <a:solidFill>
            <a:srgbClr val="AED6F1"/>
          </a:solidFill>
          <a:ln/>
        </p:spPr>
      </p:sp>
      <p:sp>
        <p:nvSpPr>
          <p:cNvPr id="45" name="Shape 43"/>
          <p:cNvSpPr/>
          <p:nvPr/>
        </p:nvSpPr>
        <p:spPr>
          <a:xfrm>
            <a:off x="1920240" y="4480560"/>
            <a:ext cx="438912" cy="146304"/>
          </a:xfrm>
          <a:prstGeom prst="rect">
            <a:avLst/>
          </a:prstGeom>
          <a:solidFill>
            <a:srgbClr val="6E7D8B"/>
          </a:solidFill>
          <a:ln/>
        </p:spPr>
      </p:sp>
      <p:sp>
        <p:nvSpPr>
          <p:cNvPr id="46" name="Text 44"/>
          <p:cNvSpPr/>
          <p:nvPr/>
        </p:nvSpPr>
        <p:spPr>
          <a:xfrm>
            <a:off x="3794760" y="440740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E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24%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754880" y="960120"/>
            <a:ext cx="4069080" cy="3977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754880" y="960120"/>
            <a:ext cx="4069080" cy="384048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49" name="Text 47"/>
          <p:cNvSpPr/>
          <p:nvPr/>
        </p:nvSpPr>
        <p:spPr>
          <a:xfrm>
            <a:off x="4754880" y="960120"/>
            <a:ext cx="406908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SHAP Explainability Insights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892040" y="144475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SHAP?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892040" y="1700784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SHapley Additive exPlanations quantifies how much each feature pushes the model's price prediction higher or lower for each individual device.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892040" y="233172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SHAP Findings: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892040" y="2651760"/>
            <a:ext cx="109728" cy="27432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54" name="Text 52"/>
          <p:cNvSpPr/>
          <p:nvPr/>
        </p:nvSpPr>
        <p:spPr>
          <a:xfrm>
            <a:off x="5047488" y="2651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RAM: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446520" y="26517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Strongly pushes price UP (+)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892040" y="3017520"/>
            <a:ext cx="109728" cy="2743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57" name="Text 55"/>
          <p:cNvSpPr/>
          <p:nvPr/>
        </p:nvSpPr>
        <p:spPr>
          <a:xfrm>
            <a:off x="5047488" y="3017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RAM: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446520" y="30175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Strongly pulls price DOWN (−)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892040" y="3383280"/>
            <a:ext cx="109728" cy="27432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60" name="Text 58"/>
          <p:cNvSpPr/>
          <p:nvPr/>
        </p:nvSpPr>
        <p:spPr>
          <a:xfrm>
            <a:off x="5047488" y="3383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Brand: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6446520" y="33832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positive price effect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4892040" y="3749040"/>
            <a:ext cx="109728" cy="2743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63" name="Text 61"/>
          <p:cNvSpPr/>
          <p:nvPr/>
        </p:nvSpPr>
        <p:spPr>
          <a:xfrm>
            <a:off x="5047488" y="3749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Memory: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6446520" y="37490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predicted price significantly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4892040" y="4114800"/>
            <a:ext cx="109728" cy="27432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66" name="Text 64"/>
          <p:cNvSpPr/>
          <p:nvPr/>
        </p:nvSpPr>
        <p:spPr>
          <a:xfrm>
            <a:off x="5047488" y="4114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 Processor: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6446520" y="41148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substantial price premium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4892040" y="4480560"/>
            <a:ext cx="109728" cy="2743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69" name="Text 67"/>
          <p:cNvSpPr/>
          <p:nvPr/>
        </p:nvSpPr>
        <p:spPr>
          <a:xfrm>
            <a:off x="5047488" y="4480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Brand: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6446520" y="44805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price towards lower range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892040" y="4590288"/>
            <a:ext cx="3794760" cy="256032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72" name="Text 70"/>
          <p:cNvSpPr/>
          <p:nvPr/>
        </p:nvSpPr>
        <p:spPr>
          <a:xfrm>
            <a:off x="4892040" y="4590288"/>
            <a:ext cx="3794760" cy="256032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enables global + local model interpretation — revealing WHY each prediction is made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Results &amp; Residual Analysis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1993392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1993392" cy="292608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960120"/>
            <a:ext cx="1993392" cy="29260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MAE (XGBoost)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252728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₹1,407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0040" y="1819656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E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96312" y="960120"/>
            <a:ext cx="1993392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96312" y="960120"/>
            <a:ext cx="1993392" cy="292608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1" name="Text 9"/>
          <p:cNvSpPr/>
          <p:nvPr/>
        </p:nvSpPr>
        <p:spPr>
          <a:xfrm>
            <a:off x="2496312" y="960120"/>
            <a:ext cx="1993392" cy="29260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RMSE (XGBoost)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496312" y="1252728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₹3,973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496312" y="1819656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E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Mean Sq. Error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72584" y="960120"/>
            <a:ext cx="1993392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72584" y="960120"/>
            <a:ext cx="1993392" cy="292608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6" name="Text 14"/>
          <p:cNvSpPr/>
          <p:nvPr/>
        </p:nvSpPr>
        <p:spPr>
          <a:xfrm>
            <a:off x="4672584" y="960120"/>
            <a:ext cx="1993392" cy="29260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R² Score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672584" y="1252728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0.8855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672584" y="1819656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E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Explained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48856" y="960120"/>
            <a:ext cx="1993392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48856" y="960120"/>
            <a:ext cx="1993392" cy="292608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21" name="Text 19"/>
          <p:cNvSpPr/>
          <p:nvPr/>
        </p:nvSpPr>
        <p:spPr>
          <a:xfrm>
            <a:off x="6848856" y="960120"/>
            <a:ext cx="1993392" cy="29260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CV R² (10-fold)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848856" y="1252728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0.7814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848856" y="1819656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E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 Score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2423160"/>
            <a:ext cx="406908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2423160"/>
            <a:ext cx="4069080" cy="384048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" y="2423160"/>
            <a:ext cx="406908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Actual vs Predicted Analysis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3659" y="1805026"/>
            <a:ext cx="91440" cy="91440"/>
          </a:xfrm>
          <a:prstGeom prst="ellipse">
            <a:avLst/>
          </a:prstGeom>
          <a:solidFill>
            <a:srgbClr val="2E86C1">
              <a:alpha val="8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50469" y="1689811"/>
            <a:ext cx="91440" cy="91440"/>
          </a:xfrm>
          <a:prstGeom prst="ellipse">
            <a:avLst/>
          </a:prstGeom>
          <a:solidFill>
            <a:srgbClr val="2E86C1">
              <a:alpha val="8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27278" y="1574597"/>
            <a:ext cx="91440" cy="91440"/>
          </a:xfrm>
          <a:prstGeom prst="ellipse">
            <a:avLst/>
          </a:prstGeom>
          <a:solidFill>
            <a:srgbClr val="2E86C1">
              <a:alpha val="8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704088" y="1459382"/>
            <a:ext cx="91440" cy="91440"/>
          </a:xfrm>
          <a:prstGeom prst="ellipse">
            <a:avLst/>
          </a:prstGeom>
          <a:solidFill>
            <a:srgbClr val="2E86C1">
              <a:alpha val="8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780898" y="1344168"/>
            <a:ext cx="91440" cy="91440"/>
          </a:xfrm>
          <a:prstGeom prst="ellipse">
            <a:avLst/>
          </a:prstGeom>
          <a:solidFill>
            <a:srgbClr val="2E86C1">
              <a:alpha val="8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857707" y="1267358"/>
            <a:ext cx="91440" cy="91440"/>
          </a:xfrm>
          <a:prstGeom prst="ellipse">
            <a:avLst/>
          </a:prstGeom>
          <a:solidFill>
            <a:srgbClr val="2E86C1">
              <a:alpha val="8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934517" y="1152144"/>
            <a:ext cx="91440" cy="91440"/>
          </a:xfrm>
          <a:prstGeom prst="ellipse">
            <a:avLst/>
          </a:prstGeom>
          <a:solidFill>
            <a:srgbClr val="2E86C1">
              <a:alpha val="8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011326" y="1132942"/>
            <a:ext cx="91440" cy="91440"/>
          </a:xfrm>
          <a:prstGeom prst="ellipse">
            <a:avLst/>
          </a:prstGeom>
          <a:solidFill>
            <a:srgbClr val="2E86C1">
              <a:alpha val="8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088136" y="1190549"/>
            <a:ext cx="91440" cy="91440"/>
          </a:xfrm>
          <a:prstGeom prst="ellipse">
            <a:avLst/>
          </a:prstGeom>
          <a:solidFill>
            <a:srgbClr val="2E86C1">
              <a:alpha val="8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164946" y="1305763"/>
            <a:ext cx="91440" cy="91440"/>
          </a:xfrm>
          <a:prstGeom prst="ellipse">
            <a:avLst/>
          </a:prstGeom>
          <a:solidFill>
            <a:srgbClr val="2E86C1">
              <a:alpha val="8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241755" y="1420978"/>
            <a:ext cx="91440" cy="91440"/>
          </a:xfrm>
          <a:prstGeom prst="ellipse">
            <a:avLst/>
          </a:prstGeom>
          <a:solidFill>
            <a:srgbClr val="2E86C1">
              <a:alpha val="8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318565" y="1536192"/>
            <a:ext cx="91440" cy="91440"/>
          </a:xfrm>
          <a:prstGeom prst="ellipse">
            <a:avLst/>
          </a:prstGeom>
          <a:solidFill>
            <a:srgbClr val="2E86C1">
              <a:alpha val="8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02920" y="4526280"/>
            <a:ext cx="3474720" cy="0"/>
          </a:xfrm>
          <a:prstGeom prst="line">
            <a:avLst/>
          </a:prstGeom>
          <a:noFill/>
          <a:ln w="25400">
            <a:solidFill>
              <a:srgbClr val="E74C3C"/>
            </a:solidFill>
            <a:prstDash val="dash"/>
          </a:ln>
        </p:spPr>
      </p:sp>
      <p:sp>
        <p:nvSpPr>
          <p:cNvPr id="40" name="Text 38"/>
          <p:cNvSpPr/>
          <p:nvPr/>
        </p:nvSpPr>
        <p:spPr>
          <a:xfrm>
            <a:off x="457200" y="288036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Dashed line = ideal predictions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near line = accurate model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budget/mid-range phones predicted accurately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High-end devices occasionally underestimated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57200" y="38862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Strong alignment confirms XGBoost captures the smartphone pricing relationship effectively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54880" y="2423160"/>
            <a:ext cx="406908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754880" y="2423160"/>
            <a:ext cx="4069080" cy="384048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44" name="Text 42"/>
          <p:cNvSpPr/>
          <p:nvPr/>
        </p:nvSpPr>
        <p:spPr>
          <a:xfrm>
            <a:off x="4754880" y="2423160"/>
            <a:ext cx="406908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Prediction Error Distribution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892040" y="4466844"/>
            <a:ext cx="329184" cy="59436"/>
          </a:xfrm>
          <a:prstGeom prst="rect">
            <a:avLst/>
          </a:prstGeom>
          <a:solidFill>
            <a:srgbClr val="AED6F1"/>
          </a:solidFill>
          <a:ln/>
        </p:spPr>
      </p:sp>
      <p:sp>
        <p:nvSpPr>
          <p:cNvPr id="46" name="Shape 44"/>
          <p:cNvSpPr/>
          <p:nvPr/>
        </p:nvSpPr>
        <p:spPr>
          <a:xfrm>
            <a:off x="5276088" y="4383634"/>
            <a:ext cx="329184" cy="142646"/>
          </a:xfrm>
          <a:prstGeom prst="rect">
            <a:avLst/>
          </a:prstGeom>
          <a:solidFill>
            <a:srgbClr val="85C1E9"/>
          </a:solidFill>
          <a:ln/>
        </p:spPr>
      </p:sp>
      <p:sp>
        <p:nvSpPr>
          <p:cNvPr id="47" name="Shape 45"/>
          <p:cNvSpPr/>
          <p:nvPr/>
        </p:nvSpPr>
        <p:spPr>
          <a:xfrm>
            <a:off x="5660136" y="4110228"/>
            <a:ext cx="329184" cy="416052"/>
          </a:xfrm>
          <a:prstGeom prst="rect">
            <a:avLst/>
          </a:prstGeom>
          <a:solidFill>
            <a:srgbClr val="5DADE2"/>
          </a:solidFill>
          <a:ln/>
        </p:spPr>
      </p:sp>
      <p:sp>
        <p:nvSpPr>
          <p:cNvPr id="48" name="Shape 46"/>
          <p:cNvSpPr/>
          <p:nvPr/>
        </p:nvSpPr>
        <p:spPr>
          <a:xfrm>
            <a:off x="6044184" y="3753612"/>
            <a:ext cx="329184" cy="772668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9" name="Shape 47"/>
          <p:cNvSpPr/>
          <p:nvPr/>
        </p:nvSpPr>
        <p:spPr>
          <a:xfrm>
            <a:off x="6428232" y="3337560"/>
            <a:ext cx="329184" cy="118872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50" name="Shape 48"/>
          <p:cNvSpPr/>
          <p:nvPr/>
        </p:nvSpPr>
        <p:spPr>
          <a:xfrm>
            <a:off x="6812280" y="3753612"/>
            <a:ext cx="329184" cy="772668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51" name="Shape 49"/>
          <p:cNvSpPr/>
          <p:nvPr/>
        </p:nvSpPr>
        <p:spPr>
          <a:xfrm>
            <a:off x="7196328" y="4110228"/>
            <a:ext cx="329184" cy="416052"/>
          </a:xfrm>
          <a:prstGeom prst="rect">
            <a:avLst/>
          </a:prstGeom>
          <a:solidFill>
            <a:srgbClr val="5DADE2"/>
          </a:solidFill>
          <a:ln/>
        </p:spPr>
      </p:sp>
      <p:sp>
        <p:nvSpPr>
          <p:cNvPr id="52" name="Shape 50"/>
          <p:cNvSpPr/>
          <p:nvPr/>
        </p:nvSpPr>
        <p:spPr>
          <a:xfrm>
            <a:off x="7580376" y="4347972"/>
            <a:ext cx="329184" cy="178308"/>
          </a:xfrm>
          <a:prstGeom prst="rect">
            <a:avLst/>
          </a:prstGeom>
          <a:solidFill>
            <a:srgbClr val="85C1E9"/>
          </a:solidFill>
          <a:ln/>
        </p:spPr>
      </p:sp>
      <p:sp>
        <p:nvSpPr>
          <p:cNvPr id="53" name="Shape 51"/>
          <p:cNvSpPr/>
          <p:nvPr/>
        </p:nvSpPr>
        <p:spPr>
          <a:xfrm>
            <a:off x="7964424" y="4466844"/>
            <a:ext cx="329184" cy="59436"/>
          </a:xfrm>
          <a:prstGeom prst="rect">
            <a:avLst/>
          </a:prstGeom>
          <a:solidFill>
            <a:srgbClr val="AED6F1"/>
          </a:solidFill>
          <a:ln/>
        </p:spPr>
      </p:sp>
      <p:sp>
        <p:nvSpPr>
          <p:cNvPr id="54" name="Shape 52"/>
          <p:cNvSpPr/>
          <p:nvPr/>
        </p:nvSpPr>
        <p:spPr>
          <a:xfrm>
            <a:off x="4892040" y="4526280"/>
            <a:ext cx="3474720" cy="0"/>
          </a:xfrm>
          <a:prstGeom prst="line">
            <a:avLst/>
          </a:prstGeom>
          <a:noFill/>
          <a:ln w="12700">
            <a:solidFill>
              <a:srgbClr val="6E7D8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492240" y="2926080"/>
            <a:ext cx="0" cy="1600200"/>
          </a:xfrm>
          <a:prstGeom prst="line">
            <a:avLst/>
          </a:prstGeom>
          <a:noFill/>
          <a:ln w="19050">
            <a:solidFill>
              <a:srgbClr val="1ABC9C"/>
            </a:solidFill>
            <a:prstDash val="dash"/>
          </a:ln>
        </p:spPr>
      </p:sp>
      <p:sp>
        <p:nvSpPr>
          <p:cNvPr id="56" name="Text 54"/>
          <p:cNvSpPr/>
          <p:nvPr/>
        </p:nvSpPr>
        <p:spPr>
          <a:xfrm>
            <a:off x="6446520" y="274320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846320" y="288036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centered near zero — model is unbiased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distribution confirms reliability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outliers: high-end premium devices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distribution: approximately normal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1B4F72">
              <a:alpha val="25000"/>
            </a:srgbClr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2926080"/>
            <a:ext cx="2286000" cy="2286000"/>
          </a:xfrm>
          <a:prstGeom prst="ellipse">
            <a:avLst/>
          </a:prstGeom>
          <a:solidFill>
            <a:srgbClr val="2E86C1">
              <a:alpha val="20000"/>
            </a:srgbClr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22860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Key Takeaways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4206240" cy="1188720"/>
          </a:xfrm>
          <a:prstGeom prst="rect">
            <a:avLst/>
          </a:prstGeom>
          <a:solidFill>
            <a:srgbClr val="1B4F72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914400"/>
            <a:ext cx="73152" cy="11887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" y="9875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Best Model: XGBoost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" y="132588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R² = 0.8855, MAE = ₹1,407 — accurately predicts smartphone prices from hardware specs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2240280"/>
            <a:ext cx="4206240" cy="1188720"/>
          </a:xfrm>
          <a:prstGeom prst="rect">
            <a:avLst/>
          </a:prstGeom>
          <a:solidFill>
            <a:srgbClr val="1B4F72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2240280"/>
            <a:ext cx="73152" cy="11887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" y="23134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Top Price Drivers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" y="265176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RAM, Storage, Brand, and Processor Class are the most influential features for smartphone pricing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3566160"/>
            <a:ext cx="4206240" cy="1188720"/>
          </a:xfrm>
          <a:prstGeom prst="rect">
            <a:avLst/>
          </a:prstGeom>
          <a:solidFill>
            <a:srgbClr val="1B4F72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20040" y="3566160"/>
            <a:ext cx="73152" cy="11887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" y="36393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Feature Engineering Impact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" y="397764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engineered features (Processor Brand, Colour Group, Storage Tier etc.) significantly improved model quality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54880" y="914400"/>
            <a:ext cx="4206240" cy="1188720"/>
          </a:xfrm>
          <a:prstGeom prst="rect">
            <a:avLst/>
          </a:prstGeom>
          <a:solidFill>
            <a:srgbClr val="1B4F72">
              <a:alpha val="4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754880" y="914400"/>
            <a:ext cx="73152" cy="11887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0" name="Text 18"/>
          <p:cNvSpPr/>
          <p:nvPr/>
        </p:nvSpPr>
        <p:spPr>
          <a:xfrm>
            <a:off x="4919472" y="9875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Market Insight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19472" y="132588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&amp; mid-range phones dominate (right-skewed price dist.); only 10% of devices are premium flagship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2240280"/>
            <a:ext cx="4206240" cy="1188720"/>
          </a:xfrm>
          <a:prstGeom prst="rect">
            <a:avLst/>
          </a:prstGeom>
          <a:solidFill>
            <a:srgbClr val="1B4F72">
              <a:alpha val="4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754880" y="2240280"/>
            <a:ext cx="73152" cy="11887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4" name="Text 22"/>
          <p:cNvSpPr/>
          <p:nvPr/>
        </p:nvSpPr>
        <p:spPr>
          <a:xfrm>
            <a:off x="4919472" y="23134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SHAP Transparency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19472" y="265176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RAM and Apple brand push prices up; budget brands and low storage pull predictions down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3566160"/>
            <a:ext cx="4206240" cy="1188720"/>
          </a:xfrm>
          <a:prstGeom prst="rect">
            <a:avLst/>
          </a:prstGeom>
          <a:solidFill>
            <a:srgbClr val="1B4F72">
              <a:alpha val="4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754880" y="3566160"/>
            <a:ext cx="73152" cy="11887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8" name="Text 26"/>
          <p:cNvSpPr/>
          <p:nvPr/>
        </p:nvSpPr>
        <p:spPr>
          <a:xfrm>
            <a:off x="4919472" y="36393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Business Recommendation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19472" y="397764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and storage investments yield the highest pricing returns; battery alone does not justify premium pricing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E86C1">
              <a:alpha val="4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82880" y="4754880"/>
            <a:ext cx="877824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 &amp; Price Prediction for Mobile Phones  ·  Machine Learning Project  ·  XGBoost | Random Forest | Gradient Boosting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1301</Words>
  <Application>Microsoft Office PowerPoint</Application>
  <PresentationFormat>On-screen Show (16:9)</PresentationFormat>
  <Paragraphs>313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Feature Extraction and Price Prediction for Mobile Phones</dc:title>
  <dc:subject>PptxGenJS Presentation</dc:subject>
  <dc:creator>PptxGenJS</dc:creator>
  <cp:lastModifiedBy>Shahrukh Shaikh</cp:lastModifiedBy>
  <cp:revision>2</cp:revision>
  <dcterms:created xsi:type="dcterms:W3CDTF">2026-03-10T18:48:49Z</dcterms:created>
  <dcterms:modified xsi:type="dcterms:W3CDTF">2026-03-10T18:58:43Z</dcterms:modified>
</cp:coreProperties>
</file>